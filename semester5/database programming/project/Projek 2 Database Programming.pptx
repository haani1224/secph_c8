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8288000" cy="10287000"/>
  <p:notesSz cx="6858000" cy="9144000"/>
  <p:embeddedFontLst>
    <p:embeddedFont>
      <p:font typeface="Calibri (MS) Bold" charset="1" panose="020F0702030404030204"/>
      <p:regular r:id="rId45"/>
    </p:embeddedFont>
    <p:embeddedFont>
      <p:font typeface="Calibri (MS)" charset="1" panose="020F050202020403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http://trip.co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9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9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png" Type="http://schemas.openxmlformats.org/officeDocument/2006/relationships/image"/><Relationship Id="rId13" Target="../media/image63.svg" Type="http://schemas.openxmlformats.org/officeDocument/2006/relationships/image"/><Relationship Id="rId2" Target="../media/image5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084" r="0" b="-1213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4"/>
            <a:ext cx="18307050" cy="10306050"/>
            <a:chOff x="0" y="0"/>
            <a:chExt cx="2440940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12000">
                  <a:srgbClr val="6C1D35">
                    <a:alpha val="68000"/>
                  </a:srgbClr>
                </a:gs>
                <a:gs pos="77000">
                  <a:srgbClr val="511628">
                    <a:alpha val="100000"/>
                  </a:srgbClr>
                </a:gs>
              </a:gsLst>
              <a:lin ang="14437346"/>
            </a:gra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09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728700"/>
                  </a:lnTo>
                  <a:cubicBezTo>
                    <a:pt x="24409400" y="13735686"/>
                    <a:pt x="24403686" y="13741400"/>
                    <a:pt x="24396700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700" y="13716000"/>
                  </a:lnTo>
                  <a:lnTo>
                    <a:pt x="24396700" y="13728700"/>
                  </a:lnTo>
                  <a:lnTo>
                    <a:pt x="24384000" y="1372870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9061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-10800000">
            <a:off x="10668000" y="-52621"/>
            <a:ext cx="7376160" cy="10381784"/>
          </a:xfrm>
          <a:custGeom>
            <a:avLst/>
            <a:gdLst/>
            <a:ahLst/>
            <a:cxnLst/>
            <a:rect r="r" b="b" t="t" l="l"/>
            <a:pathLst>
              <a:path h="10381784" w="7376160">
                <a:moveTo>
                  <a:pt x="7376160" y="0"/>
                </a:moveTo>
                <a:lnTo>
                  <a:pt x="0" y="0"/>
                </a:lnTo>
                <a:lnTo>
                  <a:pt x="0" y="10381783"/>
                </a:lnTo>
                <a:lnTo>
                  <a:pt x="7376160" y="10381783"/>
                </a:lnTo>
                <a:lnTo>
                  <a:pt x="73761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67" t="0" r="-2167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6902393" y="523641"/>
            <a:ext cx="3015054" cy="4243622"/>
          </a:xfrm>
          <a:custGeom>
            <a:avLst/>
            <a:gdLst/>
            <a:ahLst/>
            <a:cxnLst/>
            <a:rect r="r" b="b" t="t" l="l"/>
            <a:pathLst>
              <a:path h="4243622" w="3015054">
                <a:moveTo>
                  <a:pt x="3015054" y="0"/>
                </a:moveTo>
                <a:lnTo>
                  <a:pt x="0" y="0"/>
                </a:lnTo>
                <a:lnTo>
                  <a:pt x="0" y="4243622"/>
                </a:lnTo>
                <a:lnTo>
                  <a:pt x="3015054" y="4243622"/>
                </a:lnTo>
                <a:lnTo>
                  <a:pt x="30150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28" t="0" r="-222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48018" y="5071595"/>
            <a:ext cx="87325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2 (5%) - EzTransport, A transport booking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48018" y="2938848"/>
            <a:ext cx="873252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SECP3623 - DATABASE PROGRAMMING</a:t>
            </a:r>
          </a:p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2025/2026 - SEM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49760" y="1731186"/>
            <a:ext cx="11400671" cy="10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UNIVERSITI TEKNOLOGI MALAYSIA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28700" y="523641"/>
            <a:ext cx="3209168" cy="1085400"/>
            <a:chOff x="0" y="0"/>
            <a:chExt cx="4278890" cy="144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8884" cy="1447165"/>
            </a:xfrm>
            <a:custGeom>
              <a:avLst/>
              <a:gdLst/>
              <a:ahLst/>
              <a:cxnLst/>
              <a:rect r="r" b="b" t="t" l="l"/>
              <a:pathLst>
                <a:path h="1447165" w="4278884">
                  <a:moveTo>
                    <a:pt x="0" y="0"/>
                  </a:moveTo>
                  <a:lnTo>
                    <a:pt x="4278884" y="0"/>
                  </a:lnTo>
                  <a:lnTo>
                    <a:pt x="4278884" y="1447165"/>
                  </a:lnTo>
                  <a:lnTo>
                    <a:pt x="0" y="1447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65523" y="4512228"/>
            <a:ext cx="1257300" cy="1262541"/>
          </a:xfrm>
          <a:custGeom>
            <a:avLst/>
            <a:gdLst/>
            <a:ahLst/>
            <a:cxnLst/>
            <a:rect r="r" b="b" t="t" l="l"/>
            <a:pathLst>
              <a:path h="1262541" w="1257300">
                <a:moveTo>
                  <a:pt x="0" y="0"/>
                </a:moveTo>
                <a:lnTo>
                  <a:pt x="1257300" y="0"/>
                </a:lnTo>
                <a:lnTo>
                  <a:pt x="1257300" y="1262541"/>
                </a:lnTo>
                <a:lnTo>
                  <a:pt x="0" y="1262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4512230"/>
            <a:ext cx="1257300" cy="1262541"/>
          </a:xfrm>
          <a:custGeom>
            <a:avLst/>
            <a:gdLst/>
            <a:ahLst/>
            <a:cxnLst/>
            <a:rect r="r" b="b" t="t" l="l"/>
            <a:pathLst>
              <a:path h="1262541" w="1257300">
                <a:moveTo>
                  <a:pt x="0" y="0"/>
                </a:moveTo>
                <a:lnTo>
                  <a:pt x="1257300" y="0"/>
                </a:lnTo>
                <a:lnTo>
                  <a:pt x="1257300" y="1262540"/>
                </a:lnTo>
                <a:lnTo>
                  <a:pt x="0" y="1262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4499769" y="9574994"/>
            <a:ext cx="3788231" cy="285090"/>
            <a:chOff x="0" y="0"/>
            <a:chExt cx="5050974" cy="380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50917" cy="380111"/>
            </a:xfrm>
            <a:custGeom>
              <a:avLst/>
              <a:gdLst/>
              <a:ahLst/>
              <a:cxnLst/>
              <a:rect r="r" b="b" t="t" l="l"/>
              <a:pathLst>
                <a:path h="380111" w="5050917">
                  <a:moveTo>
                    <a:pt x="0" y="0"/>
                  </a:moveTo>
                  <a:lnTo>
                    <a:pt x="5050917" y="0"/>
                  </a:lnTo>
                  <a:lnTo>
                    <a:pt x="5050917" y="380111"/>
                  </a:lnTo>
                  <a:lnTo>
                    <a:pt x="0" y="380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2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>
            <a:off x="-89328" y="9685463"/>
            <a:ext cx="14589076" cy="6415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365523" y="6965396"/>
          <a:ext cx="8782050" cy="1014413"/>
        </p:xfrm>
        <a:graphic>
          <a:graphicData uri="http://schemas.openxmlformats.org/drawingml/2006/table">
            <a:tbl>
              <a:tblPr/>
              <a:tblGrid>
                <a:gridCol w="1412851"/>
                <a:gridCol w="445469"/>
                <a:gridCol w="6923730"/>
              </a:tblGrid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Nurul Ika Syafiny Binti Azhar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Matric Id 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A23CS0164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361950" y="8084421"/>
          <a:ext cx="8782050" cy="1014412"/>
        </p:xfrm>
        <a:graphic>
          <a:graphicData uri="http://schemas.openxmlformats.org/drawingml/2006/table">
            <a:tbl>
              <a:tblPr/>
              <a:tblGrid>
                <a:gridCol w="1412851"/>
                <a:gridCol w="445469"/>
                <a:gridCol w="6923730"/>
              </a:tblGrid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Nuraisyah Binti Mohd Zikre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Matric Id 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A23CS0160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 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9144000" y="6965396"/>
          <a:ext cx="8782050" cy="1014412"/>
        </p:xfrm>
        <a:graphic>
          <a:graphicData uri="http://schemas.openxmlformats.org/drawingml/2006/table">
            <a:tbl>
              <a:tblPr/>
              <a:tblGrid>
                <a:gridCol w="1412851"/>
                <a:gridCol w="445469"/>
                <a:gridCol w="6923730"/>
              </a:tblGrid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Lubna Al Haani Binti Radzuan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Matric Id 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A23CS0107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144000" y="8084421"/>
          <a:ext cx="8782050" cy="1014412"/>
        </p:xfrm>
        <a:graphic>
          <a:graphicData uri="http://schemas.openxmlformats.org/drawingml/2006/table">
            <a:tbl>
              <a:tblPr/>
              <a:tblGrid>
                <a:gridCol w="1412851"/>
                <a:gridCol w="445469"/>
                <a:gridCol w="6923730"/>
              </a:tblGrid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Harini A/P Sangaran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072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Matric Id 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: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1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A23CS0081</a:t>
                      </a:r>
                      <a:endParaRPr lang="en-US" sz="1100"/>
                    </a:p>
                  </a:txBody>
                  <a:tcPr marL="68580" marR="68580" marT="68580" marB="6858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5400000">
            <a:off x="2142062" y="-2142062"/>
            <a:ext cx="10320045" cy="14604165"/>
            <a:chOff x="0" y="0"/>
            <a:chExt cx="13760060" cy="19472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0069" cy="19472275"/>
            </a:xfrm>
            <a:custGeom>
              <a:avLst/>
              <a:gdLst/>
              <a:ahLst/>
              <a:cxnLst/>
              <a:rect r="r" b="b" t="t" l="l"/>
              <a:pathLst>
                <a:path h="19472275" w="13760069">
                  <a:moveTo>
                    <a:pt x="0" y="0"/>
                  </a:moveTo>
                  <a:lnTo>
                    <a:pt x="13760069" y="0"/>
                  </a:lnTo>
                  <a:lnTo>
                    <a:pt x="13760069" y="19472275"/>
                  </a:lnTo>
                  <a:lnTo>
                    <a:pt x="0" y="19472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4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-10800000">
            <a:off x="88640" y="0"/>
            <a:ext cx="18110720" cy="4663784"/>
            <a:chOff x="0" y="0"/>
            <a:chExt cx="24147626" cy="6218378"/>
          </a:xfrm>
        </p:grpSpPr>
        <p:sp>
          <p:nvSpPr>
            <p:cNvPr name="Freeform 5" id="5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3">
                <a:alphaModFix amt="99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930316" y="962367"/>
            <a:ext cx="427364" cy="18288000"/>
            <a:chOff x="0" y="0"/>
            <a:chExt cx="569818" cy="2438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9849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569849">
                  <a:moveTo>
                    <a:pt x="0" y="0"/>
                  </a:moveTo>
                  <a:lnTo>
                    <a:pt x="569849" y="0"/>
                  </a:lnTo>
                  <a:lnTo>
                    <a:pt x="569849" y="24384000"/>
                  </a:lnTo>
                  <a:lnTo>
                    <a:pt x="0" y="24384000"/>
                  </a:lnTo>
                  <a:close/>
                </a:path>
              </a:pathLst>
            </a:custGeom>
            <a:solidFill>
              <a:srgbClr val="6C1D3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310484" y="9909827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97120" y="6120282"/>
            <a:ext cx="87325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45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Transportation Booking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7119" y="5236894"/>
            <a:ext cx="966132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spc="450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2 PRESENTATION SLIDE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97120" y="3218154"/>
            <a:ext cx="9464961" cy="222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UNIVERSITI TEKNOLOGI MALAYSIA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090723" y="899274"/>
            <a:ext cx="3374110" cy="1127841"/>
            <a:chOff x="0" y="0"/>
            <a:chExt cx="4498814" cy="15037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767643" y="9529413"/>
            <a:ext cx="3205157" cy="241209"/>
            <a:chOff x="0" y="0"/>
            <a:chExt cx="4273542" cy="3216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3550" cy="321564"/>
            </a:xfrm>
            <a:custGeom>
              <a:avLst/>
              <a:gdLst/>
              <a:ahLst/>
              <a:cxnLst/>
              <a:rect r="r" b="b" t="t" l="l"/>
              <a:pathLst>
                <a:path h="321564" w="4273550">
                  <a:moveTo>
                    <a:pt x="0" y="0"/>
                  </a:moveTo>
                  <a:lnTo>
                    <a:pt x="4273550" y="0"/>
                  </a:lnTo>
                  <a:lnTo>
                    <a:pt x="4273550" y="321564"/>
                  </a:lnTo>
                  <a:lnTo>
                    <a:pt x="0" y="321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4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54" t="0" r="-554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19"/>
              </a:stretch>
            </a:blipFill>
          </p:spPr>
        </p:sp>
      </p:grpSp>
      <p:sp>
        <p:nvSpPr>
          <p:cNvPr name="AutoShape 15" id="15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4677973" y="4399415"/>
            <a:ext cx="11428274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580" y="1751789"/>
            <a:ext cx="16105789" cy="664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3"/>
              </a:lnSpc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focuses on a comprehensive transportation booking system inspired by </a:t>
            </a:r>
            <a:r>
              <a:rPr lang="en-US" sz="3919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://trip.com"/>
              </a:rPr>
              <a:t>Trip.com</a:t>
            </a: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platforms. The system will manage the user profile, variety of transportation mode (flights, trains, cars, ferries), booking transactions and payment for the booking made.</a:t>
            </a:r>
          </a:p>
          <a:p>
            <a:pPr algn="just">
              <a:lnSpc>
                <a:spcPts val="4703"/>
              </a:lnSpc>
            </a:pPr>
          </a:p>
          <a:p>
            <a:pPr algn="just">
              <a:lnSpc>
                <a:spcPts val="4703"/>
              </a:lnSpc>
            </a:pPr>
            <a:r>
              <a:rPr lang="en-US" sz="391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</a:t>
            </a:r>
          </a:p>
          <a:p>
            <a:pPr algn="just" marL="846164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design and implement a NoSQL backend using MongoDB.</a:t>
            </a:r>
          </a:p>
          <a:p>
            <a:pPr algn="just" marL="846164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perform CRUD operation and implement advanced indexing and aggregation pipeline for each team member.</a:t>
            </a:r>
          </a:p>
          <a:p>
            <a:pPr algn="just" marL="846164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use the embedded documents and references by applying Document Data Model.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4399415"/>
            <a:ext cx="11428274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Data Model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14142" y="3229829"/>
            <a:ext cx="7995300" cy="4920184"/>
          </a:xfrm>
          <a:custGeom>
            <a:avLst/>
            <a:gdLst/>
            <a:ahLst/>
            <a:cxnLst/>
            <a:rect r="r" b="b" t="t" l="l"/>
            <a:pathLst>
              <a:path h="4920184" w="7995300">
                <a:moveTo>
                  <a:pt x="0" y="0"/>
                </a:moveTo>
                <a:lnTo>
                  <a:pt x="7995299" y="0"/>
                </a:lnTo>
                <a:lnTo>
                  <a:pt x="7995299" y="4920184"/>
                </a:lnTo>
                <a:lnTo>
                  <a:pt x="0" y="49201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09441" y="3415984"/>
            <a:ext cx="9236340" cy="435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primary key, _id is a unique ObjectId automatically generated by MongoDB. 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Contains fields named full_name, email, phone and created_at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Embedded Document pattern is used to store preferences object, which contains the users’ preferred currency and seat type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Users Collection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89282" y="2967776"/>
            <a:ext cx="8460400" cy="5261956"/>
          </a:xfrm>
          <a:custGeom>
            <a:avLst/>
            <a:gdLst/>
            <a:ahLst/>
            <a:cxnLst/>
            <a:rect r="r" b="b" t="t" l="l"/>
            <a:pathLst>
              <a:path h="5261956" w="8460400">
                <a:moveTo>
                  <a:pt x="0" y="0"/>
                </a:moveTo>
                <a:lnTo>
                  <a:pt x="8460400" y="0"/>
                </a:lnTo>
                <a:lnTo>
                  <a:pt x="8460400" y="5261957"/>
                </a:lnTo>
                <a:lnTo>
                  <a:pt x="0" y="52619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09441" y="3106421"/>
            <a:ext cx="9236340" cy="49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primary key, _id is a unique ObjectId automatically generated by MongoDB. 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origin and destination are stored as an Object within the route allowing the system to retrieve all trip details in a single query without needing to join separate tables.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Amenities is an array that stores multiple values in a single list.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262" y="345986"/>
            <a:ext cx="7221476" cy="227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TravelOptions Collection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36295" y="3349551"/>
            <a:ext cx="7883879" cy="3173917"/>
          </a:xfrm>
          <a:custGeom>
            <a:avLst/>
            <a:gdLst/>
            <a:ahLst/>
            <a:cxnLst/>
            <a:rect r="r" b="b" t="t" l="l"/>
            <a:pathLst>
              <a:path h="3173917" w="7883879">
                <a:moveTo>
                  <a:pt x="0" y="0"/>
                </a:moveTo>
                <a:lnTo>
                  <a:pt x="7883879" y="0"/>
                </a:lnTo>
                <a:lnTo>
                  <a:pt x="7883879" y="3173918"/>
                </a:lnTo>
                <a:lnTo>
                  <a:pt x="0" y="31739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945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99902" y="2560000"/>
            <a:ext cx="10120964" cy="49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primary key (_id) is automatically generated by MongoDB. 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user_id and travel_id fields store the unique identifiers of documents from the Users and TravelOptions collections, respectively where it links travelers to trips. 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collection also uses an Array of Objects for passengers field to store the details of the travelers (name, age, identification) in one document.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Booking Collection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5004" y="2180216"/>
            <a:ext cx="7385337" cy="5169882"/>
          </a:xfrm>
          <a:custGeom>
            <a:avLst/>
            <a:gdLst/>
            <a:ahLst/>
            <a:cxnLst/>
            <a:rect r="r" b="b" t="t" l="l"/>
            <a:pathLst>
              <a:path h="5169882" w="7385337">
                <a:moveTo>
                  <a:pt x="0" y="0"/>
                </a:moveTo>
                <a:lnTo>
                  <a:pt x="7385337" y="0"/>
                </a:lnTo>
                <a:lnTo>
                  <a:pt x="7385337" y="5169882"/>
                </a:lnTo>
                <a:lnTo>
                  <a:pt x="0" y="51698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223" r="-5440" b="-384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99902" y="1989716"/>
            <a:ext cx="10120964" cy="683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primary key, _id is a unique ObjectId automatically generated by MongoDB. 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Referencing (booking_id) used to link each payment to each corresponding booking.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embedded document (transactions_details) used for storage flexibility in storing the payment gateway metadata.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array (promo_codes) for handling single/multiple promo codes in a single transaction.</a:t>
            </a:r>
          </a:p>
          <a:p>
            <a:pPr algn="l" marL="645231" indent="-322615" lvl="1">
              <a:lnSpc>
                <a:spcPts val="490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Other fields are stored as standard scalar fields (String, Double, and Date) to record the essential financial information.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Payment Collection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5485129"/>
            <a:ext cx="10732027" cy="7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424" spc="553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CRUD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77973" y="3846990"/>
            <a:ext cx="12709223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IMPLEMENTATION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5485129"/>
            <a:ext cx="10732027" cy="7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424" spc="553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77973" y="3846990"/>
            <a:ext cx="12768343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IMPLEMENTATION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403704" y="3829760"/>
            <a:ext cx="9461543" cy="5297187"/>
          </a:xfrm>
          <a:custGeom>
            <a:avLst/>
            <a:gdLst/>
            <a:ahLst/>
            <a:cxnLst/>
            <a:rect r="r" b="b" t="t" l="l"/>
            <a:pathLst>
              <a:path h="5297187" w="9461543">
                <a:moveTo>
                  <a:pt x="0" y="0"/>
                </a:moveTo>
                <a:lnTo>
                  <a:pt x="9461542" y="0"/>
                </a:lnTo>
                <a:lnTo>
                  <a:pt x="9461542" y="5297187"/>
                </a:lnTo>
                <a:lnTo>
                  <a:pt x="0" y="52971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insertOne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000553"/>
            <a:ext cx="16230600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insertOne()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Inserts one value in all the fields of a collection.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insertion of values in Users collection for a user named Ahmad Zaki.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710659" y="1780334"/>
            <a:ext cx="5941362" cy="8111074"/>
          </a:xfrm>
          <a:custGeom>
            <a:avLst/>
            <a:gdLst/>
            <a:ahLst/>
            <a:cxnLst/>
            <a:rect r="r" b="b" t="t" l="l"/>
            <a:pathLst>
              <a:path h="8111074" w="5941362">
                <a:moveTo>
                  <a:pt x="0" y="0"/>
                </a:moveTo>
                <a:lnTo>
                  <a:pt x="5941362" y="0"/>
                </a:lnTo>
                <a:lnTo>
                  <a:pt x="5941362" y="8111074"/>
                </a:lnTo>
                <a:lnTo>
                  <a:pt x="0" y="81110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insertMany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000553"/>
            <a:ext cx="9068684" cy="202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insertMany()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Inserts multiple entries in the collection simultaneously.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insertion of values in Users collection for users Siti Sarah, John Doe and Lim Wei.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5485129"/>
            <a:ext cx="10732027" cy="7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424" spc="553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READ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77973" y="3846990"/>
            <a:ext cx="12886585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IMPLEMENTATION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findOne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42485" y="1955006"/>
            <a:ext cx="8076958" cy="7152972"/>
          </a:xfrm>
          <a:custGeom>
            <a:avLst/>
            <a:gdLst/>
            <a:ahLst/>
            <a:cxnLst/>
            <a:rect r="r" b="b" t="t" l="l"/>
            <a:pathLst>
              <a:path h="7152972" w="8076958">
                <a:moveTo>
                  <a:pt x="0" y="0"/>
                </a:moveTo>
                <a:lnTo>
                  <a:pt x="8076957" y="0"/>
                </a:lnTo>
                <a:lnTo>
                  <a:pt x="8076957" y="7152972"/>
                </a:lnTo>
                <a:lnTo>
                  <a:pt x="0" y="71529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55" r="-2613" b="-45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000553"/>
            <a:ext cx="7713785" cy="301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findOne()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Retriev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a s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ingle document that matches a specific criteria which is useful for quick lookups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searches for the first document where the transaction_details.gateway is "iPay88".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5607" y="345986"/>
            <a:ext cx="9656787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 and condition $gt, $lt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48460" y="4502668"/>
            <a:ext cx="6274265" cy="4953684"/>
          </a:xfrm>
          <a:custGeom>
            <a:avLst/>
            <a:gdLst/>
            <a:ahLst/>
            <a:cxnLst/>
            <a:rect r="r" b="b" t="t" l="l"/>
            <a:pathLst>
              <a:path h="4953684" w="6274265">
                <a:moveTo>
                  <a:pt x="0" y="0"/>
                </a:moveTo>
                <a:lnTo>
                  <a:pt x="6274265" y="0"/>
                </a:lnTo>
                <a:lnTo>
                  <a:pt x="6274265" y="4953684"/>
                </a:lnTo>
                <a:lnTo>
                  <a:pt x="0" y="49536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5331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768309"/>
            <a:ext cx="7713785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$gt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used for querying documents that is greater than value input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645521"/>
            <a:ext cx="15367868" cy="103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find()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Retriev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all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documents that matches a specific criteria.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181901" y="4502668"/>
            <a:ext cx="6274265" cy="4953684"/>
          </a:xfrm>
          <a:custGeom>
            <a:avLst/>
            <a:gdLst/>
            <a:ahLst/>
            <a:cxnLst/>
            <a:rect r="r" b="b" t="t" l="l"/>
            <a:pathLst>
              <a:path h="4953684" w="6274265">
                <a:moveTo>
                  <a:pt x="0" y="0"/>
                </a:moveTo>
                <a:lnTo>
                  <a:pt x="6274265" y="0"/>
                </a:lnTo>
                <a:lnTo>
                  <a:pt x="6274265" y="4953684"/>
                </a:lnTo>
                <a:lnTo>
                  <a:pt x="0" y="49536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2366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62141" y="2768309"/>
            <a:ext cx="7713785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$lt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used for querying documents that is less than value input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34374" y="345986"/>
            <a:ext cx="8419253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 using $eq, $in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4502668"/>
            <a:ext cx="7413661" cy="5031857"/>
          </a:xfrm>
          <a:custGeom>
            <a:avLst/>
            <a:gdLst/>
            <a:ahLst/>
            <a:cxnLst/>
            <a:rect r="r" b="b" t="t" l="l"/>
            <a:pathLst>
              <a:path h="5031857" w="7413661">
                <a:moveTo>
                  <a:pt x="0" y="0"/>
                </a:moveTo>
                <a:lnTo>
                  <a:pt x="7413661" y="0"/>
                </a:lnTo>
                <a:lnTo>
                  <a:pt x="7413661" y="5031857"/>
                </a:lnTo>
                <a:lnTo>
                  <a:pt x="0" y="50318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9" t="0" r="-259" b="-1632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7481" y="2212272"/>
            <a:ext cx="7713785" cy="202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$eq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to perform strict equality matches.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Using the $eq operator formally defines the condition.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640383" y="4502668"/>
            <a:ext cx="7357301" cy="5031857"/>
          </a:xfrm>
          <a:custGeom>
            <a:avLst/>
            <a:gdLst/>
            <a:ahLst/>
            <a:cxnLst/>
            <a:rect r="r" b="b" t="t" l="l"/>
            <a:pathLst>
              <a:path h="5031857" w="7357301">
                <a:moveTo>
                  <a:pt x="0" y="0"/>
                </a:moveTo>
                <a:lnTo>
                  <a:pt x="7357301" y="0"/>
                </a:lnTo>
                <a:lnTo>
                  <a:pt x="7357301" y="5031857"/>
                </a:lnTo>
                <a:lnTo>
                  <a:pt x="0" y="5031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6366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462141" y="2212272"/>
            <a:ext cx="7713785" cy="202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$in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to perform equality matches with multiple values within the same field.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Retrieved documents matches with any values.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34374" y="345986"/>
            <a:ext cx="8419253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 using $and, $or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23575" y="3309418"/>
            <a:ext cx="6221598" cy="6280971"/>
          </a:xfrm>
          <a:custGeom>
            <a:avLst/>
            <a:gdLst/>
            <a:ahLst/>
            <a:cxnLst/>
            <a:rect r="r" b="b" t="t" l="l"/>
            <a:pathLst>
              <a:path h="6280971" w="6221598">
                <a:moveTo>
                  <a:pt x="0" y="0"/>
                </a:moveTo>
                <a:lnTo>
                  <a:pt x="6221598" y="0"/>
                </a:lnTo>
                <a:lnTo>
                  <a:pt x="6221598" y="6280971"/>
                </a:lnTo>
                <a:lnTo>
                  <a:pt x="0" y="62809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4005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7481" y="1709096"/>
            <a:ext cx="7713785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$and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Retrieve only docume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nts that satisfy all the listed conditions simultaneously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42827" y="3309418"/>
            <a:ext cx="6221598" cy="6280971"/>
          </a:xfrm>
          <a:custGeom>
            <a:avLst/>
            <a:gdLst/>
            <a:ahLst/>
            <a:cxnLst/>
            <a:rect r="r" b="b" t="t" l="l"/>
            <a:pathLst>
              <a:path h="6280971" w="6221598">
                <a:moveTo>
                  <a:pt x="0" y="0"/>
                </a:moveTo>
                <a:lnTo>
                  <a:pt x="6221598" y="0"/>
                </a:lnTo>
                <a:lnTo>
                  <a:pt x="6221598" y="6280971"/>
                </a:lnTo>
                <a:lnTo>
                  <a:pt x="0" y="62809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0558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462141" y="1709096"/>
            <a:ext cx="7713785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$or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Retrieve documents that satisfy any of the lis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ted conditions.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91531" y="345986"/>
            <a:ext cx="10504937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Array and Projection Query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823575" y="3462768"/>
            <a:ext cx="6221598" cy="6071757"/>
          </a:xfrm>
          <a:custGeom>
            <a:avLst/>
            <a:gdLst/>
            <a:ahLst/>
            <a:cxnLst/>
            <a:rect r="r" b="b" t="t" l="l"/>
            <a:pathLst>
              <a:path h="6071757" w="6221598">
                <a:moveTo>
                  <a:pt x="0" y="0"/>
                </a:moveTo>
                <a:lnTo>
                  <a:pt x="6221598" y="0"/>
                </a:lnTo>
                <a:lnTo>
                  <a:pt x="6221598" y="6071757"/>
                </a:lnTo>
                <a:lnTo>
                  <a:pt x="0" y="60717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1226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7481" y="1709096"/>
            <a:ext cx="7713785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Array Query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$all to retrieve all documents that has the listed array in any order.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42827" y="3386093"/>
            <a:ext cx="6221598" cy="6225107"/>
          </a:xfrm>
          <a:custGeom>
            <a:avLst/>
            <a:gdLst/>
            <a:ahLst/>
            <a:cxnLst/>
            <a:rect r="r" b="b" t="t" l="l"/>
            <a:pathLst>
              <a:path h="6225107" w="6221598">
                <a:moveTo>
                  <a:pt x="0" y="0"/>
                </a:moveTo>
                <a:lnTo>
                  <a:pt x="6221598" y="0"/>
                </a:lnTo>
                <a:lnTo>
                  <a:pt x="6221598" y="6225107"/>
                </a:lnTo>
                <a:lnTo>
                  <a:pt x="0" y="62251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3505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462141" y="1709096"/>
            <a:ext cx="7713785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8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Projection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Return only specific data fields required whil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excluding others.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5485129"/>
            <a:ext cx="10732027" cy="7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424" spc="553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77973" y="3846990"/>
            <a:ext cx="12581327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IMPLEMENTATION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842663" y="4239466"/>
            <a:ext cx="10602674" cy="5141709"/>
          </a:xfrm>
          <a:custGeom>
            <a:avLst/>
            <a:gdLst/>
            <a:ahLst/>
            <a:cxnLst/>
            <a:rect r="r" b="b" t="t" l="l"/>
            <a:pathLst>
              <a:path h="5141709" w="10602674">
                <a:moveTo>
                  <a:pt x="0" y="0"/>
                </a:moveTo>
                <a:lnTo>
                  <a:pt x="10602674" y="0"/>
                </a:lnTo>
                <a:lnTo>
                  <a:pt x="10602674" y="5141709"/>
                </a:lnTo>
                <a:lnTo>
                  <a:pt x="0" y="51417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963" y="2000553"/>
            <a:ext cx="16806074" cy="202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</a:t>
            </a: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update targets a document where the provider is “AirAsia” and the route.destination is “Singapore”. 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query $set will update its status field to “Delayed”.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$inc is used to decrement the available_seats by -1 whenever a booking is confirmed to prevent overbooking.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262" y="488862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updateOne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updateMany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1081" y="2105328"/>
            <a:ext cx="15965838" cy="7709708"/>
            <a:chOff x="0" y="0"/>
            <a:chExt cx="21287784" cy="102796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47064" y="4188148"/>
              <a:ext cx="7230741" cy="5579049"/>
            </a:xfrm>
            <a:custGeom>
              <a:avLst/>
              <a:gdLst/>
              <a:ahLst/>
              <a:cxnLst/>
              <a:rect r="r" b="b" t="t" l="l"/>
              <a:pathLst>
                <a:path h="5579049" w="7230741">
                  <a:moveTo>
                    <a:pt x="0" y="0"/>
                  </a:moveTo>
                  <a:lnTo>
                    <a:pt x="7230740" y="0"/>
                  </a:lnTo>
                  <a:lnTo>
                    <a:pt x="7230740" y="5579048"/>
                  </a:lnTo>
                  <a:lnTo>
                    <a:pt x="0" y="5579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54391" y="3675733"/>
              <a:ext cx="7196534" cy="6603878"/>
            </a:xfrm>
            <a:custGeom>
              <a:avLst/>
              <a:gdLst/>
              <a:ahLst/>
              <a:cxnLst/>
              <a:rect r="r" b="b" t="t" l="l"/>
              <a:pathLst>
                <a:path h="6603878" w="7196534">
                  <a:moveTo>
                    <a:pt x="0" y="0"/>
                  </a:moveTo>
                  <a:lnTo>
                    <a:pt x="7196534" y="0"/>
                  </a:lnTo>
                  <a:lnTo>
                    <a:pt x="7196534" y="6603878"/>
                  </a:lnTo>
                  <a:lnTo>
                    <a:pt x="0" y="6603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832491" cy="3989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2"/>
                </a:lnSpc>
              </a:pPr>
              <a:r>
                <a:rPr lang="en-US" sz="286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$push</a:t>
              </a:r>
            </a:p>
            <a:p>
              <a:pPr algn="l" marL="619566" indent="-309783" lvl="1">
                <a:lnSpc>
                  <a:spcPts val="3902"/>
                </a:lnSpc>
                <a:buFont typeface="Arial"/>
                <a:buChar char="•"/>
              </a:pPr>
              <a:r>
                <a:rPr lang="en-US" sz="28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q</a:t>
              </a:r>
              <a:r>
                <a:rPr lang="en-US" sz="28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uery filters all documents where the transport_type is “Ferry”.</a:t>
              </a:r>
            </a:p>
            <a:p>
              <a:pPr algn="l" marL="619566" indent="-309783" lvl="1">
                <a:lnSpc>
                  <a:spcPts val="3902"/>
                </a:lnSpc>
                <a:buFont typeface="Arial"/>
                <a:buChar char="•"/>
              </a:pPr>
              <a:r>
                <a:rPr lang="en-US" sz="28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The array operator $push adds the new string “Free Water” into the existing amenities array.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455294" y="-104775"/>
              <a:ext cx="9832491" cy="3329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2"/>
                </a:lnSpc>
              </a:pPr>
              <a:r>
                <a:rPr lang="en-US" sz="286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$pull</a:t>
              </a:r>
            </a:p>
            <a:p>
              <a:pPr algn="l" marL="619566" indent="-309783" lvl="1">
                <a:lnSpc>
                  <a:spcPts val="3902"/>
                </a:lnSpc>
                <a:buFont typeface="Arial"/>
                <a:buChar char="•"/>
              </a:pPr>
              <a:r>
                <a:rPr lang="en-US" sz="28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</a:t>
              </a:r>
              <a:r>
                <a:rPr lang="en-US" sz="28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 targets all records categorized as "Car" under the transport_type field. </a:t>
              </a:r>
            </a:p>
            <a:p>
              <a:pPr algn="l" marL="619566" indent="-309783" lvl="1">
                <a:lnSpc>
                  <a:spcPts val="3902"/>
                </a:lnSpc>
                <a:buFont typeface="Arial"/>
                <a:buChar char="•"/>
              </a:pPr>
              <a:r>
                <a:rPr lang="en-US" sz="28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uses the $pull operator to remove "GPS" from the amenities array. 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5485129"/>
            <a:ext cx="10732027" cy="7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424" spc="553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DELETE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77973" y="3846990"/>
            <a:ext cx="12581327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IMPLEMENTATION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55857" y="2528510"/>
            <a:ext cx="14557236" cy="103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remove specific record using unique _id ( example: users that cancel booking)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Does not affecting other document in collection.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890746" y="3917190"/>
            <a:ext cx="13012182" cy="2643390"/>
          </a:xfrm>
          <a:custGeom>
            <a:avLst/>
            <a:gdLst/>
            <a:ahLst/>
            <a:cxnLst/>
            <a:rect r="r" b="b" t="t" l="l"/>
            <a:pathLst>
              <a:path h="2643390" w="13012182">
                <a:moveTo>
                  <a:pt x="0" y="0"/>
                </a:moveTo>
                <a:lnTo>
                  <a:pt x="13012182" y="0"/>
                </a:lnTo>
                <a:lnTo>
                  <a:pt x="13012182" y="2643390"/>
                </a:lnTo>
                <a:lnTo>
                  <a:pt x="0" y="2643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deleteOne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-2671409" y="0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998420" y="4360753"/>
            <a:ext cx="10272111" cy="2989345"/>
          </a:xfrm>
          <a:custGeom>
            <a:avLst/>
            <a:gdLst/>
            <a:ahLst/>
            <a:cxnLst/>
            <a:rect r="r" b="b" t="t" l="l"/>
            <a:pathLst>
              <a:path h="2989345" w="10272111">
                <a:moveTo>
                  <a:pt x="0" y="0"/>
                </a:moveTo>
                <a:lnTo>
                  <a:pt x="10272110" y="0"/>
                </a:lnTo>
                <a:lnTo>
                  <a:pt x="10272110" y="2989345"/>
                </a:lnTo>
                <a:lnTo>
                  <a:pt x="0" y="29893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3262" y="345986"/>
            <a:ext cx="7221476" cy="12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8"/>
              </a:lnSpc>
            </a:pPr>
            <a:r>
              <a:rPr lang="en-US" sz="7006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deleteMany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8418" y="2422877"/>
            <a:ext cx="14871163" cy="15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for administrative clean-up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Delete the record by filter out the record (“Cancelled”)</a:t>
            </a:r>
          </a:p>
          <a:p>
            <a:pPr algn="l" marL="619566" indent="-309783" lvl="1">
              <a:lnSpc>
                <a:spcPts val="3902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Remain optimized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77973" y="5485129"/>
            <a:ext cx="10732027" cy="75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9"/>
              </a:lnSpc>
            </a:pPr>
            <a:r>
              <a:rPr lang="en-US" sz="4424" spc="553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77973" y="3846990"/>
            <a:ext cx="12581327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NoSQL IMPLEMENTATION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858270" y="4495238"/>
            <a:ext cx="8401030" cy="1264485"/>
          </a:xfrm>
          <a:custGeom>
            <a:avLst/>
            <a:gdLst/>
            <a:ahLst/>
            <a:cxnLst/>
            <a:rect r="r" b="b" t="t" l="l"/>
            <a:pathLst>
              <a:path h="1264485" w="8401030">
                <a:moveTo>
                  <a:pt x="0" y="0"/>
                </a:moveTo>
                <a:lnTo>
                  <a:pt x="8401030" y="0"/>
                </a:lnTo>
                <a:lnTo>
                  <a:pt x="8401030" y="1264485"/>
                </a:lnTo>
                <a:lnTo>
                  <a:pt x="0" y="12644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8269114"/>
            <a:ext cx="12568418" cy="989186"/>
          </a:xfrm>
          <a:custGeom>
            <a:avLst/>
            <a:gdLst/>
            <a:ahLst/>
            <a:cxnLst/>
            <a:rect r="r" b="b" t="t" l="l"/>
            <a:pathLst>
              <a:path h="989186" w="12568418">
                <a:moveTo>
                  <a:pt x="0" y="0"/>
                </a:moveTo>
                <a:lnTo>
                  <a:pt x="12568418" y="0"/>
                </a:lnTo>
                <a:lnTo>
                  <a:pt x="12568418" y="989186"/>
                </a:lnTo>
                <a:lnTo>
                  <a:pt x="0" y="989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5840" r="0" b="-584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29863" y="395862"/>
            <a:ext cx="1142827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Indexing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45403" y="2119188"/>
            <a:ext cx="8613897" cy="229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Indexing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index is created on  a field where 1 represents ascending or -1 represents descending in sorting order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426055"/>
            <a:ext cx="16230600" cy="173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Compound Indexing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index is created on multiple fields simultaneously where 1 represents ascending or -1 represents descending in sorting order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119188"/>
            <a:ext cx="7616703" cy="341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Indexing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Easily locate the specific field instantly.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Creating a separate and sorted data structure to store field value and a pointer to actual document.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query performance to O(log N)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820240" y="2590817"/>
            <a:ext cx="6603807" cy="6236199"/>
          </a:xfrm>
          <a:custGeom>
            <a:avLst/>
            <a:gdLst/>
            <a:ahLst/>
            <a:cxnLst/>
            <a:rect r="r" b="b" t="t" l="l"/>
            <a:pathLst>
              <a:path h="6236199" w="6603807">
                <a:moveTo>
                  <a:pt x="0" y="0"/>
                </a:moveTo>
                <a:lnTo>
                  <a:pt x="6603806" y="0"/>
                </a:lnTo>
                <a:lnTo>
                  <a:pt x="6603806" y="6236200"/>
                </a:lnTo>
                <a:lnTo>
                  <a:pt x="0" y="6236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9863" y="395862"/>
            <a:ext cx="1142827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Aggregation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666" y="2476517"/>
            <a:ext cx="9600257" cy="679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t</a:t>
            </a: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 aggregation pipelin</a:t>
            </a: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e, used a 3 stages pipeline in Booking collection 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First stage: </a:t>
            </a:r>
          </a:p>
          <a:p>
            <a:pPr algn="l" marL="1411847" indent="-470616" lvl="2">
              <a:lnSpc>
                <a:spcPts val="4446"/>
              </a:lnSpc>
              <a:buFont typeface="Arial"/>
              <a:buChar char="⚬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$match operation to filter out the total price that is not greater than zero. 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Second stage: </a:t>
            </a:r>
          </a:p>
          <a:p>
            <a:pPr algn="l" marL="1411847" indent="-470616" lvl="2">
              <a:lnSpc>
                <a:spcPts val="4446"/>
              </a:lnSpc>
              <a:buFont typeface="Arial"/>
              <a:buChar char="⚬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Grouping ($group operation) the booking by status of the booking to find the total price and the number of bookings made. 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Third stage:</a:t>
            </a:r>
          </a:p>
          <a:p>
            <a:pPr algn="l" marL="1411847" indent="-470616" lvl="2">
              <a:lnSpc>
                <a:spcPts val="4446"/>
              </a:lnSpc>
              <a:buFont typeface="Arial"/>
              <a:buChar char="⚬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$sort operation to categorize the total price in descending order (-1).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843954" y="3728411"/>
            <a:ext cx="6805597" cy="4066160"/>
          </a:xfrm>
          <a:custGeom>
            <a:avLst/>
            <a:gdLst/>
            <a:ahLst/>
            <a:cxnLst/>
            <a:rect r="r" b="b" t="t" l="l"/>
            <a:pathLst>
              <a:path h="4066160" w="6805597">
                <a:moveTo>
                  <a:pt x="0" y="0"/>
                </a:moveTo>
                <a:lnTo>
                  <a:pt x="6805597" y="0"/>
                </a:lnTo>
                <a:lnTo>
                  <a:pt x="6805597" y="4066161"/>
                </a:lnTo>
                <a:lnTo>
                  <a:pt x="0" y="40661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9863" y="395862"/>
            <a:ext cx="1142827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Aggregation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666" y="2140858"/>
            <a:ext cx="9600257" cy="711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0"/>
              </a:lnSpc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t</a:t>
            </a: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 aggregation pipelin</a:t>
            </a: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e, used a 3 stages pipeline in Users collection </a:t>
            </a:r>
          </a:p>
          <a:p>
            <a:pPr algn="l" marL="684334" indent="-342167" lvl="1">
              <a:lnSpc>
                <a:spcPts val="4310"/>
              </a:lnSpc>
              <a:buFont typeface="Arial"/>
              <a:buChar char="•"/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First stage: </a:t>
            </a:r>
          </a:p>
          <a:p>
            <a:pPr algn="l" marL="1368668" indent="-456223" lvl="2">
              <a:lnSpc>
                <a:spcPts val="4310"/>
              </a:lnSpc>
              <a:buFont typeface="Arial"/>
              <a:buChar char="⚬"/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$match operation to filter for users who have a specific seat preference, such as "Window" </a:t>
            </a:r>
          </a:p>
          <a:p>
            <a:pPr algn="l" marL="684334" indent="-342167" lvl="1">
              <a:lnSpc>
                <a:spcPts val="4310"/>
              </a:lnSpc>
              <a:buFont typeface="Arial"/>
              <a:buChar char="•"/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Second stage: </a:t>
            </a:r>
          </a:p>
          <a:p>
            <a:pPr algn="l" marL="1368668" indent="-456223" lvl="2">
              <a:lnSpc>
                <a:spcPts val="4310"/>
              </a:lnSpc>
              <a:buFont typeface="Arial"/>
              <a:buChar char="⚬"/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$project operation to control the output display. _id is set to 0 and a new field label, _name, was created to map the existing full_name field.</a:t>
            </a:r>
          </a:p>
          <a:p>
            <a:pPr algn="l" marL="684334" indent="-342167" lvl="1">
              <a:lnSpc>
                <a:spcPts val="4310"/>
              </a:lnSpc>
              <a:buFont typeface="Arial"/>
              <a:buChar char="•"/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Third stage:</a:t>
            </a:r>
          </a:p>
          <a:p>
            <a:pPr algn="l" marL="1368668" indent="-456223" lvl="2">
              <a:lnSpc>
                <a:spcPts val="4310"/>
              </a:lnSpc>
              <a:buFont typeface="Arial"/>
              <a:buChar char="⚬"/>
            </a:pPr>
            <a:r>
              <a:rPr lang="en-US" sz="31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$limit operation to manage the output size which is 2 in this case.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435338" y="2333797"/>
            <a:ext cx="4632772" cy="7301157"/>
          </a:xfrm>
          <a:custGeom>
            <a:avLst/>
            <a:gdLst/>
            <a:ahLst/>
            <a:cxnLst/>
            <a:rect r="r" b="b" t="t" l="l"/>
            <a:pathLst>
              <a:path h="7301157" w="4632772">
                <a:moveTo>
                  <a:pt x="0" y="0"/>
                </a:moveTo>
                <a:lnTo>
                  <a:pt x="4632772" y="0"/>
                </a:lnTo>
                <a:lnTo>
                  <a:pt x="4632772" y="7301157"/>
                </a:lnTo>
                <a:lnTo>
                  <a:pt x="0" y="73011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9863" y="395862"/>
            <a:ext cx="1142827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096" y="3483938"/>
            <a:ext cx="9600257" cy="45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2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Ascending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val</a:t>
            </a: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ue 1 indicates Ascending Order which means the documents will be sorted from the cheapest to most expensive. 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output displays the "Langkawi Ferry Line" with a price of 21 as the first result, followed by "KTM ETS" at 45.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useful for users looking for cheap travel ways.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1092909" y="2209973"/>
            <a:ext cx="5088636" cy="7324552"/>
          </a:xfrm>
          <a:custGeom>
            <a:avLst/>
            <a:gdLst/>
            <a:ahLst/>
            <a:cxnLst/>
            <a:rect r="r" b="b" t="t" l="l"/>
            <a:pathLst>
              <a:path h="7324552" w="5088636">
                <a:moveTo>
                  <a:pt x="0" y="0"/>
                </a:moveTo>
                <a:lnTo>
                  <a:pt x="5088636" y="0"/>
                </a:lnTo>
                <a:lnTo>
                  <a:pt x="5088636" y="7324552"/>
                </a:lnTo>
                <a:lnTo>
                  <a:pt x="0" y="73245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9863" y="395862"/>
            <a:ext cx="1142827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0206" y="2981294"/>
            <a:ext cx="9352764" cy="566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6"/>
              </a:lnSpc>
            </a:pPr>
            <a:r>
              <a:rPr lang="en-US" sz="326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Descending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val</a:t>
            </a: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ue -1 indicates Descending Order which means the documents will be sorted from the most expensive. 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output shows Malaysia Airlines at the top with a base_price of 3200, followed by Star Cruises at 1200. </a:t>
            </a:r>
          </a:p>
          <a:p>
            <a:pPr algn="l" marL="705923" indent="-352962" lvl="1">
              <a:lnSpc>
                <a:spcPts val="4446"/>
              </a:lnSpc>
              <a:buFont typeface="Arial"/>
              <a:buChar char="•"/>
            </a:pPr>
            <a:r>
              <a:rPr lang="en-US" sz="32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useful for users looking for high-end or luxury travel experiences, such as international flights or cruise packages.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3189496" y="-1593588"/>
            <a:ext cx="3607620" cy="5077645"/>
          </a:xfrm>
          <a:custGeom>
            <a:avLst/>
            <a:gdLst/>
            <a:ahLst/>
            <a:cxnLst/>
            <a:rect r="r" b="b" t="t" l="l"/>
            <a:pathLst>
              <a:path h="5077645" w="3607620">
                <a:moveTo>
                  <a:pt x="3607620" y="0"/>
                </a:moveTo>
                <a:lnTo>
                  <a:pt x="0" y="0"/>
                </a:lnTo>
                <a:lnTo>
                  <a:pt x="0" y="5077645"/>
                </a:lnTo>
                <a:lnTo>
                  <a:pt x="3607620" y="5077645"/>
                </a:lnTo>
                <a:lnTo>
                  <a:pt x="3607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055" t="0" r="-2055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9" id="9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6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54" t="0" r="-55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93306" y="4043568"/>
            <a:ext cx="11428274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8"/>
              </a:lnSpc>
            </a:pPr>
            <a:r>
              <a:rPr lang="en-US" sz="93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 CONTRIBUTIONS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19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8158" y="2181397"/>
            <a:ext cx="126657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9"/>
              </a:lnSpc>
            </a:pPr>
            <a:r>
              <a:rPr lang="en-US" sz="69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Nurul Ika Syafiny Binti Azhar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92026"/>
            <a:ext cx="14473158" cy="438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esign and implementation of the TravelOptions collection.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Authored the NoSQL data model for this collection. 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Responsible for populating the collection with diverse sample data representing flights, trains, cars, and ferries to test the system's polymorphic capabilities. 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the CRUD and advanced operations.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8158" y="2181397"/>
            <a:ext cx="126657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9"/>
              </a:lnSpc>
            </a:pPr>
            <a:r>
              <a:rPr lang="en-US" sz="69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Nuraisyah Binti Mohd Zikre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92026"/>
            <a:ext cx="15005244" cy="3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esign and implementation of the Booking collection.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Authored the NoSQL data model for this collection. 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Responsible to links both Users collection and TravelOptions collection by using reference to determine the booking status and the price. 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the CRUD and advanced operations.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8158" y="2181397"/>
            <a:ext cx="126657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9"/>
              </a:lnSpc>
            </a:pPr>
            <a:r>
              <a:rPr lang="en-US" sz="69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Lubna Al Haani Binti Radzuan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92026"/>
            <a:ext cx="15005244" cy="438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esign and implementation of the Payment collection.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Produced the NoSQL data model for this collection. 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Responsible to links Booking collection by using reference to attach the finalized payment information to corresponding booking.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the CRUD and advanced operations.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Authored the Query Operation and Indexing explanation.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8158" y="2181397"/>
            <a:ext cx="1266573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9"/>
              </a:lnSpc>
            </a:pPr>
            <a:r>
              <a:rPr lang="en-US" sz="69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Harini A/P Sangaran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92026"/>
            <a:ext cx="14473158" cy="365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esign and implementation of the Users collection.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Produced the NoSQL data model for this collection. 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Responsible for populating the collection with diverse sample data representing different currencies and preferred seat types.</a:t>
            </a:r>
          </a:p>
          <a:p>
            <a:pPr algn="l" marL="813871" indent="-406935" lvl="1">
              <a:lnSpc>
                <a:spcPts val="5729"/>
              </a:lnSpc>
              <a:buFont typeface="Arial"/>
              <a:buChar char="•"/>
            </a:pPr>
            <a:r>
              <a:rPr lang="en-US" sz="37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Implemented the CRUD and advanced operations.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77974" cy="6695372"/>
          </a:xfrm>
          <a:custGeom>
            <a:avLst/>
            <a:gdLst/>
            <a:ahLst/>
            <a:cxnLst/>
            <a:rect r="r" b="b" t="t" l="l"/>
            <a:pathLst>
              <a:path h="6695372" w="4677974">
                <a:moveTo>
                  <a:pt x="0" y="0"/>
                </a:moveTo>
                <a:lnTo>
                  <a:pt x="4677974" y="0"/>
                </a:lnTo>
                <a:lnTo>
                  <a:pt x="4677974" y="6695372"/>
                </a:lnTo>
                <a:lnTo>
                  <a:pt x="0" y="669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035" t="0" r="-30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8446488">
            <a:off x="1733819" y="4604962"/>
            <a:ext cx="3321981" cy="4680366"/>
            <a:chOff x="0" y="0"/>
            <a:chExt cx="4429308" cy="624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29252" cy="6240526"/>
            </a:xfrm>
            <a:custGeom>
              <a:avLst/>
              <a:gdLst/>
              <a:ahLst/>
              <a:cxnLst/>
              <a:rect r="r" b="b" t="t" l="l"/>
              <a:pathLst>
                <a:path h="6240526" w="4429252">
                  <a:moveTo>
                    <a:pt x="0" y="6240526"/>
                  </a:moveTo>
                  <a:lnTo>
                    <a:pt x="1107313" y="0"/>
                  </a:lnTo>
                  <a:lnTo>
                    <a:pt x="4429252" y="0"/>
                  </a:lnTo>
                  <a:lnTo>
                    <a:pt x="3321939" y="624052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8446488">
            <a:off x="3808530" y="8245928"/>
            <a:ext cx="2676654" cy="2911595"/>
            <a:chOff x="0" y="0"/>
            <a:chExt cx="3568872" cy="3882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68827" cy="3882136"/>
            </a:xfrm>
            <a:custGeom>
              <a:avLst/>
              <a:gdLst/>
              <a:ahLst/>
              <a:cxnLst/>
              <a:rect r="r" b="b" t="t" l="l"/>
              <a:pathLst>
                <a:path h="3882136" w="3568827">
                  <a:moveTo>
                    <a:pt x="0" y="3882136"/>
                  </a:moveTo>
                  <a:lnTo>
                    <a:pt x="683006" y="0"/>
                  </a:lnTo>
                  <a:lnTo>
                    <a:pt x="3568827" y="2411222"/>
                  </a:lnTo>
                  <a:lnTo>
                    <a:pt x="3321939" y="3882136"/>
                  </a:lnTo>
                  <a:lnTo>
                    <a:pt x="0" y="3882136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5400000">
            <a:off x="-3903422" y="3924159"/>
            <a:ext cx="10570338" cy="2722021"/>
            <a:chOff x="0" y="0"/>
            <a:chExt cx="14093784" cy="362936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14093825" cy="3629406"/>
            </a:xfrm>
            <a:custGeom>
              <a:avLst/>
              <a:gdLst/>
              <a:ahLst/>
              <a:cxnLst/>
              <a:rect r="r" b="b" t="t" l="l"/>
              <a:pathLst>
                <a:path h="3629406" w="14093825">
                  <a:moveTo>
                    <a:pt x="0" y="3629406"/>
                  </a:moveTo>
                  <a:lnTo>
                    <a:pt x="14093825" y="3629406"/>
                  </a:lnTo>
                  <a:lnTo>
                    <a:pt x="14093825" y="0"/>
                  </a:lnTo>
                  <a:lnTo>
                    <a:pt x="0" y="0"/>
                  </a:lnTo>
                  <a:lnTo>
                    <a:pt x="0" y="3629406"/>
                  </a:lnTo>
                  <a:close/>
                </a:path>
              </a:pathLst>
            </a:custGeom>
            <a:blipFill>
              <a:blip r:embed="rId4">
                <a:alphaModFix amt="99000"/>
              </a:blip>
              <a:stretch>
                <a:fillRect l="0" t="0" r="0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424817" y="5615193"/>
            <a:ext cx="3121051" cy="4467020"/>
          </a:xfrm>
          <a:custGeom>
            <a:avLst/>
            <a:gdLst/>
            <a:ahLst/>
            <a:cxnLst/>
            <a:rect r="r" b="b" t="t" l="l"/>
            <a:pathLst>
              <a:path h="4467020" w="3121051">
                <a:moveTo>
                  <a:pt x="0" y="0"/>
                </a:moveTo>
                <a:lnTo>
                  <a:pt x="3121051" y="0"/>
                </a:lnTo>
                <a:lnTo>
                  <a:pt x="3121051" y="4467019"/>
                </a:lnTo>
                <a:lnTo>
                  <a:pt x="0" y="4467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099" t="0" r="-309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2745056" y="9070166"/>
            <a:ext cx="628650" cy="1185863"/>
          </a:xfrm>
          <a:custGeom>
            <a:avLst/>
            <a:gdLst/>
            <a:ahLst/>
            <a:cxnLst/>
            <a:rect r="r" b="b" t="t" l="l"/>
            <a:pathLst>
              <a:path h="1185863" w="628650">
                <a:moveTo>
                  <a:pt x="0" y="0"/>
                </a:moveTo>
                <a:lnTo>
                  <a:pt x="628650" y="0"/>
                </a:lnTo>
                <a:lnTo>
                  <a:pt x="628650" y="1185862"/>
                </a:lnTo>
                <a:lnTo>
                  <a:pt x="0" y="11858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54" t="0" r="-554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419192" y="516633"/>
            <a:ext cx="3374111" cy="1127841"/>
            <a:chOff x="0" y="0"/>
            <a:chExt cx="4498814" cy="15037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8848" cy="1503807"/>
            </a:xfrm>
            <a:custGeom>
              <a:avLst/>
              <a:gdLst/>
              <a:ahLst/>
              <a:cxnLst/>
              <a:rect r="r" b="b" t="t" l="l"/>
              <a:pathLst>
                <a:path h="1503807" w="4498848">
                  <a:moveTo>
                    <a:pt x="0" y="0"/>
                  </a:moveTo>
                  <a:lnTo>
                    <a:pt x="4498848" y="0"/>
                  </a:lnTo>
                  <a:lnTo>
                    <a:pt x="4498848" y="1503807"/>
                  </a:lnTo>
                  <a:lnTo>
                    <a:pt x="0" y="150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5185571" y="9794859"/>
            <a:ext cx="3090182" cy="232555"/>
            <a:chOff x="0" y="0"/>
            <a:chExt cx="4120242" cy="310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20261" cy="310134"/>
            </a:xfrm>
            <a:custGeom>
              <a:avLst/>
              <a:gdLst/>
              <a:ahLst/>
              <a:cxnLst/>
              <a:rect r="r" b="b" t="t" l="l"/>
              <a:pathLst>
                <a:path h="310134" w="4120261">
                  <a:moveTo>
                    <a:pt x="0" y="0"/>
                  </a:moveTo>
                  <a:lnTo>
                    <a:pt x="4120261" y="0"/>
                  </a:lnTo>
                  <a:lnTo>
                    <a:pt x="4120261" y="310134"/>
                  </a:lnTo>
                  <a:lnTo>
                    <a:pt x="0" y="310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19"/>
              </a:stretch>
            </a:blipFill>
          </p:spPr>
        </p:sp>
      </p:grpSp>
      <p:sp>
        <p:nvSpPr>
          <p:cNvPr name="AutoShape 15" id="15"/>
          <p:cNvSpPr/>
          <p:nvPr/>
        </p:nvSpPr>
        <p:spPr>
          <a:xfrm rot="9522">
            <a:off x="-21461" y="9930785"/>
            <a:ext cx="15473420" cy="0"/>
          </a:xfrm>
          <a:prstGeom prst="line">
            <a:avLst/>
          </a:prstGeom>
          <a:ln cap="rnd" w="19050">
            <a:solidFill>
              <a:srgbClr val="9B2D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481700" y="4399415"/>
            <a:ext cx="11428274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8"/>
              </a:lnSpc>
            </a:pPr>
            <a:r>
              <a:rPr lang="en-US" sz="9124" b="true">
                <a:solidFill>
                  <a:srgbClr val="6C1D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10800000">
            <a:off x="10146" y="1905"/>
            <a:ext cx="18110720" cy="4663784"/>
            <a:chOff x="0" y="0"/>
            <a:chExt cx="24147626" cy="6218378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24147653" cy="6218428"/>
            </a:xfrm>
            <a:custGeom>
              <a:avLst/>
              <a:gdLst/>
              <a:ahLst/>
              <a:cxnLst/>
              <a:rect r="r" b="b" t="t" l="l"/>
              <a:pathLst>
                <a:path h="6218428" w="24147653">
                  <a:moveTo>
                    <a:pt x="0" y="6218428"/>
                  </a:moveTo>
                  <a:lnTo>
                    <a:pt x="24147653" y="6218428"/>
                  </a:lnTo>
                  <a:lnTo>
                    <a:pt x="24147653" y="0"/>
                  </a:lnTo>
                  <a:lnTo>
                    <a:pt x="0" y="0"/>
                  </a:lnTo>
                  <a:lnTo>
                    <a:pt x="0" y="6218428"/>
                  </a:lnTo>
                  <a:close/>
                </a:path>
              </a:pathLst>
            </a:custGeom>
            <a:blipFill>
              <a:blip r:embed="rId2">
                <a:alphaModFix amt="99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9658348"/>
            <a:ext cx="6638175" cy="628650"/>
          </a:xfrm>
          <a:custGeom>
            <a:avLst/>
            <a:gdLst/>
            <a:ahLst/>
            <a:cxnLst/>
            <a:rect r="r" b="b" t="t" l="l"/>
            <a:pathLst>
              <a:path h="628650" w="6638175">
                <a:moveTo>
                  <a:pt x="0" y="0"/>
                </a:moveTo>
                <a:lnTo>
                  <a:pt x="6638175" y="0"/>
                </a:lnTo>
                <a:lnTo>
                  <a:pt x="663817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5718317" y="425385"/>
            <a:ext cx="2202251" cy="746192"/>
            <a:chOff x="0" y="0"/>
            <a:chExt cx="2936334" cy="994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6367" cy="994918"/>
            </a:xfrm>
            <a:custGeom>
              <a:avLst/>
              <a:gdLst/>
              <a:ahLst/>
              <a:cxnLst/>
              <a:rect r="r" b="b" t="t" l="l"/>
              <a:pathLst>
                <a:path h="994918" w="2936367">
                  <a:moveTo>
                    <a:pt x="0" y="0"/>
                  </a:moveTo>
                  <a:lnTo>
                    <a:pt x="2936367" y="0"/>
                  </a:lnTo>
                  <a:lnTo>
                    <a:pt x="2936367" y="994918"/>
                  </a:lnTo>
                  <a:lnTo>
                    <a:pt x="0" y="994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3202521" cy="586362"/>
          </a:xfrm>
          <a:custGeom>
            <a:avLst/>
            <a:gdLst/>
            <a:ahLst/>
            <a:cxnLst/>
            <a:rect r="r" b="b" t="t" l="l"/>
            <a:pathLst>
              <a:path h="586362" w="3202521">
                <a:moveTo>
                  <a:pt x="0" y="0"/>
                </a:moveTo>
                <a:lnTo>
                  <a:pt x="3202521" y="0"/>
                </a:lnTo>
                <a:lnTo>
                  <a:pt x="3202521" y="586362"/>
                </a:lnTo>
                <a:lnTo>
                  <a:pt x="0" y="5863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95582" y="7350098"/>
            <a:ext cx="392418" cy="2184427"/>
            <a:chOff x="0" y="0"/>
            <a:chExt cx="523224" cy="2912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3240" cy="2912618"/>
            </a:xfrm>
            <a:custGeom>
              <a:avLst/>
              <a:gdLst/>
              <a:ahLst/>
              <a:cxnLst/>
              <a:rect r="r" b="b" t="t" l="l"/>
              <a:pathLst>
                <a:path h="2912618" w="523240">
                  <a:moveTo>
                    <a:pt x="0" y="0"/>
                  </a:moveTo>
                  <a:lnTo>
                    <a:pt x="523240" y="0"/>
                  </a:lnTo>
                  <a:lnTo>
                    <a:pt x="523240" y="2912618"/>
                  </a:lnTo>
                  <a:lnTo>
                    <a:pt x="0" y="2912618"/>
                  </a:lnTo>
                  <a:close/>
                </a:path>
              </a:pathLst>
            </a:custGeom>
            <a:solidFill>
              <a:srgbClr val="26262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7671027" y="9891408"/>
            <a:ext cx="2926896" cy="220267"/>
            <a:chOff x="0" y="0"/>
            <a:chExt cx="3902528" cy="29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2583" cy="293751"/>
            </a:xfrm>
            <a:custGeom>
              <a:avLst/>
              <a:gdLst/>
              <a:ahLst/>
              <a:cxnLst/>
              <a:rect r="r" b="b" t="t" l="l"/>
              <a:pathLst>
                <a:path h="293751" w="3902583">
                  <a:moveTo>
                    <a:pt x="0" y="0"/>
                  </a:moveTo>
                  <a:lnTo>
                    <a:pt x="3902583" y="0"/>
                  </a:lnTo>
                  <a:lnTo>
                    <a:pt x="3902583" y="293751"/>
                  </a:lnTo>
                  <a:lnTo>
                    <a:pt x="0" y="29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2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-5400000">
            <a:off x="17135968" y="8274864"/>
            <a:ext cx="1883072" cy="3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2F2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www.utm.my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580" y="1751789"/>
            <a:ext cx="16105789" cy="65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6163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su</a:t>
            </a:r>
            <a:r>
              <a:rPr lang="en-US" sz="3919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cessfully combines several travel services such as flights, trains, cars, and ferr</a:t>
            </a: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into a single polymorphic collection, making cross-platform search and data management easier.</a:t>
            </a:r>
          </a:p>
          <a:p>
            <a:pPr algn="just" marL="846163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use of Embedded Documents within the Users and Payments collections ensures that high-frequency data, such as traveler preferences and transaction details, are retrieved with minimal latency, optimizing system performance.</a:t>
            </a:r>
          </a:p>
          <a:p>
            <a:pPr algn="just" marL="846163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implementation of Referencing in the Booking collection maintains strict data integrity while preventing redundancy. </a:t>
            </a:r>
          </a:p>
          <a:p>
            <a:pPr algn="just" marL="846163" indent="-423082" lvl="1">
              <a:lnSpc>
                <a:spcPts val="4703"/>
              </a:lnSpc>
              <a:buFont typeface="Arial"/>
              <a:buChar char="•"/>
            </a:pPr>
            <a:r>
              <a:rPr lang="en-US" sz="39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demonstrates that this NoSQL architecture is scalable and able to meet the real-time, data-intensive demands.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"/>
            <a:ext cx="18345150" cy="10287002"/>
            <a:chOff x="0" y="0"/>
            <a:chExt cx="24460200" cy="13716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60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60200">
                  <a:moveTo>
                    <a:pt x="0" y="0"/>
                  </a:moveTo>
                  <a:lnTo>
                    <a:pt x="24460200" y="0"/>
                  </a:lnTo>
                  <a:lnTo>
                    <a:pt x="24460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C1D3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-5400000">
            <a:off x="4029075" y="-4029075"/>
            <a:ext cx="10287000" cy="18345150"/>
            <a:chOff x="0" y="0"/>
            <a:chExt cx="13716000" cy="24460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24460200"/>
            </a:xfrm>
            <a:custGeom>
              <a:avLst/>
              <a:gdLst/>
              <a:ahLst/>
              <a:cxnLst/>
              <a:rect r="r" b="b" t="t" l="l"/>
              <a:pathLst>
                <a:path h="244602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460200"/>
                  </a:lnTo>
                  <a:lnTo>
                    <a:pt x="0" y="2446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2000"/>
              </a:blip>
              <a:stretch>
                <a:fillRect l="-26019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70672" y="3974628"/>
            <a:ext cx="7060407" cy="1523495"/>
            <a:chOff x="0" y="0"/>
            <a:chExt cx="9413876" cy="20313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13876" cy="2031326"/>
            </a:xfrm>
            <a:custGeom>
              <a:avLst/>
              <a:gdLst/>
              <a:ahLst/>
              <a:cxnLst/>
              <a:rect r="r" b="b" t="t" l="l"/>
              <a:pathLst>
                <a:path h="2031326" w="9413876">
                  <a:moveTo>
                    <a:pt x="0" y="0"/>
                  </a:moveTo>
                  <a:lnTo>
                    <a:pt x="9413876" y="0"/>
                  </a:lnTo>
                  <a:lnTo>
                    <a:pt x="9413876" y="2031326"/>
                  </a:lnTo>
                  <a:lnTo>
                    <a:pt x="0" y="2031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9413876" cy="2221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743140" y="6123054"/>
            <a:ext cx="2309420" cy="36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univteknologimalaysia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049360" y="6100652"/>
            <a:ext cx="420342" cy="422937"/>
          </a:xfrm>
          <a:custGeom>
            <a:avLst/>
            <a:gdLst/>
            <a:ahLst/>
            <a:cxnLst/>
            <a:rect r="r" b="b" t="t" l="l"/>
            <a:pathLst>
              <a:path h="422937" w="420342">
                <a:moveTo>
                  <a:pt x="0" y="0"/>
                </a:moveTo>
                <a:lnTo>
                  <a:pt x="420342" y="0"/>
                </a:lnTo>
                <a:lnTo>
                  <a:pt x="420342" y="422936"/>
                </a:lnTo>
                <a:lnTo>
                  <a:pt x="0" y="4229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96716" y="6115600"/>
            <a:ext cx="419694" cy="422937"/>
          </a:xfrm>
          <a:custGeom>
            <a:avLst/>
            <a:gdLst/>
            <a:ahLst/>
            <a:cxnLst/>
            <a:rect r="r" b="b" t="t" l="l"/>
            <a:pathLst>
              <a:path h="422937" w="419694">
                <a:moveTo>
                  <a:pt x="0" y="0"/>
                </a:moveTo>
                <a:lnTo>
                  <a:pt x="419694" y="0"/>
                </a:lnTo>
                <a:lnTo>
                  <a:pt x="419694" y="422937"/>
                </a:lnTo>
                <a:lnTo>
                  <a:pt x="0" y="422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59206" y="6115710"/>
            <a:ext cx="4362031" cy="36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utm.my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71174" y="6105909"/>
            <a:ext cx="438042" cy="438042"/>
          </a:xfrm>
          <a:custGeom>
            <a:avLst/>
            <a:gdLst/>
            <a:ahLst/>
            <a:cxnLst/>
            <a:rect r="r" b="b" t="t" l="l"/>
            <a:pathLst>
              <a:path h="438042" w="438042">
                <a:moveTo>
                  <a:pt x="0" y="0"/>
                </a:moveTo>
                <a:lnTo>
                  <a:pt x="438042" y="0"/>
                </a:lnTo>
                <a:lnTo>
                  <a:pt x="438042" y="438042"/>
                </a:lnTo>
                <a:lnTo>
                  <a:pt x="0" y="4380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98769" y="6105909"/>
            <a:ext cx="438042" cy="438042"/>
          </a:xfrm>
          <a:custGeom>
            <a:avLst/>
            <a:gdLst/>
            <a:ahLst/>
            <a:cxnLst/>
            <a:rect r="r" b="b" t="t" l="l"/>
            <a:pathLst>
              <a:path h="438042" w="438042">
                <a:moveTo>
                  <a:pt x="0" y="0"/>
                </a:moveTo>
                <a:lnTo>
                  <a:pt x="438042" y="0"/>
                </a:lnTo>
                <a:lnTo>
                  <a:pt x="438042" y="438042"/>
                </a:lnTo>
                <a:lnTo>
                  <a:pt x="0" y="4380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80526" y="6106296"/>
            <a:ext cx="433773" cy="433773"/>
          </a:xfrm>
          <a:custGeom>
            <a:avLst/>
            <a:gdLst/>
            <a:ahLst/>
            <a:cxnLst/>
            <a:rect r="r" b="b" t="t" l="l"/>
            <a:pathLst>
              <a:path h="433773" w="433773">
                <a:moveTo>
                  <a:pt x="0" y="0"/>
                </a:moveTo>
                <a:lnTo>
                  <a:pt x="433773" y="0"/>
                </a:lnTo>
                <a:lnTo>
                  <a:pt x="433773" y="433773"/>
                </a:lnTo>
                <a:lnTo>
                  <a:pt x="0" y="433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820189" y="6111666"/>
            <a:ext cx="2609375" cy="36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utmofficial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584096" y="6115434"/>
            <a:ext cx="433773" cy="433773"/>
          </a:xfrm>
          <a:custGeom>
            <a:avLst/>
            <a:gdLst/>
            <a:ahLst/>
            <a:cxnLst/>
            <a:rect r="r" b="b" t="t" l="l"/>
            <a:pathLst>
              <a:path h="433773" w="433773">
                <a:moveTo>
                  <a:pt x="0" y="0"/>
                </a:moveTo>
                <a:lnTo>
                  <a:pt x="433772" y="0"/>
                </a:lnTo>
                <a:lnTo>
                  <a:pt x="433772" y="433773"/>
                </a:lnTo>
                <a:lnTo>
                  <a:pt x="0" y="433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DAG-wNDKnog</dc:identifier>
  <dcterms:modified xsi:type="dcterms:W3CDTF">2011-08-01T06:04:30Z</dcterms:modified>
  <cp:revision>1</cp:revision>
  <dc:title>Projek 2 Database Programming</dc:title>
</cp:coreProperties>
</file>